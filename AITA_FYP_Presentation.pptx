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Profile</c:v>
                </c:pt>
              </c:strCache>
            </c:strRef>
          </c:tx>
          <c:spPr>
            <a:solidFill>
              <a:srgbClr val="8B5CF6">
                <a:alpha val="45000"/>
              </a:srgbClr>
            </a:solidFill>
            <a:ln w="2540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marker>
            <c:symbol val="circle"/>
            <c:size val="6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Accuracy</c:v>
                  </c:pt>
                  <c:pt idx="1">
                    <c:v>Reflection</c:v>
                  </c:pt>
                  <c:pt idx="2">
                    <c:v>Self-Aware</c:v>
                  </c:pt>
                  <c:pt idx="3">
                    <c:v>Creativity</c:v>
                  </c:pt>
                  <c:pt idx="4">
                    <c:v>Learning</c:v>
                  </c:pt>
                  <c:pt idx="5">
                    <c:v>Confidence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60</c:v>
                </c:pt>
                <c:pt idx="2">
                  <c:v>0</c:v>
                </c:pt>
                <c:pt idx="3">
                  <c:v>61</c:v>
                </c:pt>
                <c:pt idx="4">
                  <c:v>30</c:v>
                </c:pt>
                <c:pt idx="5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BCE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majorGridlines>
          <c:spPr>
            <a:ln w="6350" cap="flat">
              <a:solidFill>
                <a:srgbClr val="5A4A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AITA, our AI Teacher Assistant — a system that detects a learner's cognitive style, not just their score. Team of four, advised by Miss Sheeza Zaheer.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assessment is binary — 0 or 1. It tells you the outcome but hides the cause. AITA is built to answer the "why": the cognitive and behavioural story behind the 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pillars: a dynamic assessment engine, 17 live telemetry features, a Random Forest that maps behaviour to 8 learner categories, and an AI advisor that turns the result into guidance.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instant a student submits, they get this. Top-left: the Random Forest classification — here "Fast Learner", with a secondary style. The four cards are live behavioural metrics. The radar is the six-axis cognitive profile: accuracy, reflection, self-awareness, creativity, learning orientation and confidence. Note the honest signal — accuracy 100% but self-awareness 0%, which is exactly the kind of hidden gap a 0/1 score would never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raw features. Three families — timing, behavioural, cognitive — 17 in total, feeding the Random Forest. The table shows every question is a data point: notice the MCQs answered in seconds with a single character, versus the reflection questions where the student spent over a minute and wrote nearly 200 characters. That behavioural contrast is what lets us infer HOW someone thinks.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live demo — we will run an assessment end to end and watch AITA produce the classification and cognitive profile you just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2B39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86868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40680" y="86868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493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31272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 Assistant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Cognitive Learning-Style Detection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461772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86384" y="4617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16736" y="4617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Awais Ahmad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65576" y="461772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75304" y="4617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05656" y="4617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Yasir Shahzaad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4496" y="461772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64224" y="4617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94576" y="4617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Zainab Ahmad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43416" y="4617720"/>
            <a:ext cx="2468880" cy="868680"/>
          </a:xfrm>
          <a:prstGeom prst="roundRect">
            <a:avLst>
              <a:gd name="adj" fmla="val 12632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53144" y="4617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83496" y="46177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Moeez Atif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7150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Advisor: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Sheeza Zaheer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1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2B39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score alone is not enough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7335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97066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7335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3230" dirty="0"/>
          </a:p>
        </p:txBody>
      </p:sp>
      <p:sp>
        <p:nvSpPr>
          <p:cNvPr id="9" name="Text 7"/>
          <p:cNvSpPr/>
          <p:nvPr/>
        </p:nvSpPr>
        <p:spPr>
          <a:xfrm>
            <a:off x="1874520" y="161848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Evaluation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74520" y="207568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only give 0/1 — Pass or Fail. A mark, and nothing more.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2783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F5B54A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22783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3230" dirty="0"/>
          </a:p>
        </p:txBody>
      </p:sp>
      <p:sp>
        <p:nvSpPr>
          <p:cNvPr id="14" name="Text 12"/>
          <p:cNvSpPr/>
          <p:nvPr/>
        </p:nvSpPr>
        <p:spPr>
          <a:xfrm>
            <a:off x="1874520" y="31729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Gap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36301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explain WHY a student earned that mark — the reasoning stays invisible.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7823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2B39A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4782312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3230" dirty="0"/>
          </a:p>
        </p:txBody>
      </p:sp>
      <p:sp>
        <p:nvSpPr>
          <p:cNvPr id="19" name="Text 17"/>
          <p:cNvSpPr/>
          <p:nvPr/>
        </p:nvSpPr>
        <p:spPr>
          <a:xfrm>
            <a:off x="1874520" y="4727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AITA Solution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74520" y="518464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surface the cognitive gaps and behavioural reasons behind every performance.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1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2B39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of the AITA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8013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013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800600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92024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Assessment Engine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aptitude, custom &amp; material-based exams — fresh every attempt.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91072" y="14173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11112" y="1801368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56C7F0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18013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0543032" y="16002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662672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Telemetry Features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2788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Timing, behaviour and cognition captured live as the student thinks.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3776472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41605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12B39A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800600" y="395935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920240" y="41879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8 Categories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96112" y="5148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features classify each learner into one of 8 cognitive profiles.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91072" y="3776472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11112" y="4160520"/>
            <a:ext cx="914400" cy="914400"/>
          </a:xfrm>
          <a:prstGeom prst="roundRect">
            <a:avLst>
              <a:gd name="adj" fmla="val 10000"/>
            </a:avLst>
          </a:prstGeom>
          <a:solidFill>
            <a:srgbClr val="F5B54A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11112" y="4160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0543032" y="395935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>
                    <a:alpha val="1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7662672" y="418795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Advisor Chatbot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38544" y="5148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results and coaches the student on their specific weak areas.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21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2B39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Result: Learner Classification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student sees the moment they finish — a full cognitive breakdown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537960" cy="2148840"/>
          </a:xfrm>
          <a:prstGeom prst="roundRect">
            <a:avLst>
              <a:gd name="adj" fmla="val 5106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627632"/>
            <a:ext cx="1234440" cy="1234440"/>
          </a:xfrm>
          <a:prstGeom prst="roundRect">
            <a:avLst>
              <a:gd name="adj" fmla="val 7407"/>
            </a:avLst>
          </a:prstGeom>
          <a:solidFill>
            <a:srgbClr val="12B39A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627632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4590" dirty="0"/>
          </a:p>
        </p:txBody>
      </p:sp>
      <p:sp>
        <p:nvSpPr>
          <p:cNvPr id="9" name="Text 7"/>
          <p:cNvSpPr/>
          <p:nvPr/>
        </p:nvSpPr>
        <p:spPr>
          <a:xfrm>
            <a:off x="2194560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76272" y="18105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Learner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074920" y="1883664"/>
            <a:ext cx="1737360" cy="384048"/>
          </a:xfrm>
          <a:prstGeom prst="roundRect">
            <a:avLst>
              <a:gd name="adj" fmla="val 47619"/>
            </a:avLst>
          </a:prstGeom>
          <a:solidFill>
            <a:srgbClr val="12B39A">
              <a:alpha val="28000"/>
            </a:srgbClr>
          </a:solidFill>
          <a:ln w="9525">
            <a:solidFill>
              <a:srgbClr val="6EE7B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8836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Confidence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76272" y="22860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quickly, spots patterns fast, and improves across scenarios — ready for advanced challenges and leadership roles.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Secondary: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Performer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8039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4233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Decision 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4453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365760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096512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00600" y="380390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00600" y="42336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Changes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445312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revisions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13232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↩️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0840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17320" y="5513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57332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deviation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0" y="493776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32234F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096512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00600" y="5084064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800600" y="55138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00600" y="57332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self-assurance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69480" y="1371600"/>
            <a:ext cx="4370832" cy="4480560"/>
          </a:xfrm>
          <a:prstGeom prst="roundRect">
            <a:avLst>
              <a:gd name="adj" fmla="val 2510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498080" y="15179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Cognitive Profile</a:t>
            </a:r>
            <a:endParaRPr lang="en-US" sz="1400" dirty="0"/>
          </a:p>
        </p:txBody>
      </p:sp>
      <p:graphicFrame>
        <p:nvGraphicFramePr>
          <p:cNvPr id="37" name="Chart 0" descr=""/>
          <p:cNvGraphicFramePr/>
          <p:nvPr/>
        </p:nvGraphicFramePr>
        <p:xfrm>
          <a:off x="7360920" y="1874520"/>
          <a:ext cx="42062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1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2B39A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089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Hood: The 17 Telemetry Features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behavioural signal that feeds the Random Forest classifier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593592" cy="2103120"/>
          </a:xfrm>
          <a:prstGeom prst="roundRect">
            <a:avLst>
              <a:gd name="adj" fmla="val 5217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5361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</a:t>
            </a:r>
            <a:pPr indent="0" marL="0">
              <a:buNone/>
            </a:pPr>
            <a:r>
              <a:rPr lang="en-US" sz="1250" b="1" spc="100" kern="0" dirty="0">
                <a:solidFill>
                  <a:srgbClr val="56C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FEATURES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avg_decision_time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0779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31.3s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18541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time_variance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07792" y="21854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4323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time_trend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07792" y="2432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slowing_down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67919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rushed_decisions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07792" y="2679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92608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overthinking_count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07792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17296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overtime_count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07792" y="3172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371600"/>
            <a:ext cx="3593592" cy="2103120"/>
          </a:xfrm>
          <a:prstGeom prst="roundRect">
            <a:avLst>
              <a:gd name="adj" fmla="val 5217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15361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</a:t>
            </a:r>
            <a:pPr indent="0" marL="0">
              <a:buNone/>
            </a:pPr>
            <a:r>
              <a:rPr lang="en-US" sz="1250" b="1" spc="100" kern="0" dirty="0">
                <a:solidFill>
                  <a:srgbClr val="B4A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FEATURES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193852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answer_changes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4827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18541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backtrack_count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48272" y="21854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17720" y="24323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decision_style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48272" y="2432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267919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confidence_rating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48272" y="2679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292608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questions_answered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48272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17720" y="317296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skipped_questions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48272" y="3172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1371600"/>
            <a:ext cx="3593592" cy="2103120"/>
          </a:xfrm>
          <a:prstGeom prst="roundRect">
            <a:avLst>
              <a:gd name="adj" fmla="val 5217"/>
            </a:avLst>
          </a:prstGeom>
          <a:solidFill>
            <a:srgbClr val="3A2B60"/>
          </a:solidFill>
          <a:ln w="9525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58200" y="1536192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</a:t>
            </a:r>
            <a:pPr indent="0" marL="0">
              <a:buNone/>
            </a:pPr>
            <a:r>
              <a:rPr lang="en-US" sz="1250" b="1" spc="100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FEATURES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58200" y="193852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accuracy_score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58875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58200" y="218541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reflection_depth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588752" y="218541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58200" y="2432304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self_awareness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588752" y="24323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58200" y="2679192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learning_orient.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588752" y="26791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58200" y="292608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creativity_score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588752" y="29260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58200" y="3172968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primary_category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588752" y="31729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48640" y="36758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Per-Question Telemetry — every question is a data point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297680"/>
                <a:gridCol w="1463040"/>
                <a:gridCol w="1463040"/>
                <a:gridCol w="1554480"/>
                <a:gridCol w="149047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5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5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5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5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56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35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chars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Knowledge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Verbal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 &amp; 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chars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E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Solving &amp; Reflection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9BC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 chars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3A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2450"/>
                    </a:solidFill>
                  </a:tcPr>
                </a:tc>
              </a:tr>
            </a:tbl>
          </a:graphicData>
        </a:graphic>
      </p:graphicFrame>
      <p:sp>
        <p:nvSpPr>
          <p:cNvPr id="50" name="Text 47"/>
          <p:cNvSpPr/>
          <p:nvPr/>
        </p:nvSpPr>
        <p:spPr>
          <a:xfrm>
            <a:off x="548640" y="63276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78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test, wildly different behaviour: 1-second MCQ guesses vs. 100-second, 196-character written reflections — that contrast is the signal AITA learns from.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1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2B39A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40680" y="1874520"/>
            <a:ext cx="1325880" cy="1325880"/>
          </a:xfrm>
          <a:prstGeom prst="roundRect">
            <a:avLst>
              <a:gd name="adj" fmla="val 6897"/>
            </a:avLst>
          </a:prstGeom>
          <a:solidFill>
            <a:srgbClr val="12B39A"/>
          </a:solidFill>
          <a:ln/>
          <a:effectLst>
            <a:outerShdw sx="100000" sy="100000" kx="0" ky="0" algn="bl" rotWithShape="0" blurRad="127000" dist="38100" dir="5400000">
              <a:srgbClr val="120A28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40680" y="187452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493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B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see AITA classify a learner in real time.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AITA Final Presentation</dc:title>
  <dc:subject>PptxGenJS Presentation</dc:subject>
  <dc:creator>AITA Team</dc:creator>
  <cp:lastModifiedBy>AITA Team</cp:lastModifiedBy>
  <cp:revision>1</cp:revision>
  <dcterms:created xsi:type="dcterms:W3CDTF">2026-07-26T12:37:11Z</dcterms:created>
  <dcterms:modified xsi:type="dcterms:W3CDTF">2026-07-26T12:37:11Z</dcterms:modified>
</cp:coreProperties>
</file>
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Healthcare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Management – Final Year Project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Management and Technology, Lahore  |  Department of Computer Science  |  Fall 2022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8412480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35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Ul Abedeen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856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Abdullah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169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Suleman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34015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Shezaad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7856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Hamial Zaheer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86868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6868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86868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60020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69164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69164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169164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 – Agile (Scrum) with Justification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51460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51460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" y="251460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Requirements &amp; Deliverables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24612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333756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33756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" y="333756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(Project / Process / Resource)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406908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416052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416052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416052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Estimation &amp; Scheduling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77724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18888" y="86868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86868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13248" y="86868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60020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169164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169164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169164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Key Features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42316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18888" y="251460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51460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13248" y="251460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324612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18888" y="333756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333756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13248" y="333756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4069080"/>
            <a:ext cx="4206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4160520"/>
            <a:ext cx="502920" cy="493776"/>
          </a:xfrm>
          <a:prstGeom prst="roundRect">
            <a:avLst>
              <a:gd name="adj" fmla="val 925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416052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13248" y="416052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FDECEA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healthcare workflow in Pakistan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9656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FDECEA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470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first-point symptom guidance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23744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FDECEA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511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practitioners (quackery) risk patient safety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27832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FDECEA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5526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payments lack transparency &amp; verification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FDECEA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5935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bilingual (English + Roman Urdu) system exists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7498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– SmartCare-AI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160520" cy="594360"/>
          </a:xfrm>
          <a:prstGeom prst="roundRect">
            <a:avLst>
              <a:gd name="adj" fmla="val 10769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4300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triage assistant (English + Roman Urdu)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819656"/>
            <a:ext cx="4160520" cy="594360"/>
          </a:xfrm>
          <a:prstGeom prst="roundRect">
            <a:avLst>
              <a:gd name="adj" fmla="val 10769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4708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Admin-verified provider marketplace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523744"/>
            <a:ext cx="4160520" cy="594360"/>
          </a:xfrm>
          <a:prstGeom prst="roundRect">
            <a:avLst>
              <a:gd name="adj" fmla="val 10769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551176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appointment lifecycle 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27832"/>
            <a:ext cx="4160520" cy="594360"/>
          </a:xfrm>
          <a:prstGeom prst="roundRect">
            <a:avLst>
              <a:gd name="adj" fmla="val 10769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255264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 proof submission + admin validation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931920"/>
            <a:ext cx="4160520" cy="594360"/>
          </a:xfrm>
          <a:prstGeom prst="roundRect">
            <a:avLst>
              <a:gd name="adj" fmla="val 10769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59352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notes, prescriptions &amp; audit trails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Model: Agile (Scrum) – Why?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554480" cy="1005840"/>
          </a:xfrm>
          <a:prstGeom prst="roundRect">
            <a:avLst>
              <a:gd name="adj" fmla="val 6364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47088" y="1280160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777240"/>
            <a:ext cx="1554480" cy="1005840"/>
          </a:xfrm>
          <a:prstGeom prst="roundRect">
            <a:avLst>
              <a:gd name="adj" fmla="val 6364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7772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38728" y="1280160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777240"/>
            <a:ext cx="1554480" cy="1005840"/>
          </a:xfrm>
          <a:prstGeom prst="roundRect">
            <a:avLst>
              <a:gd name="adj" fmla="val 6364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7772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30368" y="1280160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777240"/>
            <a:ext cx="1554480" cy="1005840"/>
          </a:xfrm>
          <a:prstGeom prst="roundRect">
            <a:avLst>
              <a:gd name="adj" fmla="val 6364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7772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22008" y="1280160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777240"/>
            <a:ext cx="1554480" cy="1005840"/>
          </a:xfrm>
          <a:prstGeom prst="roundRect">
            <a:avLst>
              <a:gd name="adj" fmla="val 6364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7772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184708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 per Sprint  →  Release after each Sprint)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2128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Why Agile over Waterfall?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28600" y="2633472"/>
            <a:ext cx="8686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334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Requirements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263347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guardrails, bilingual support, payment flows were refined iteratively — not fully known upfront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072384"/>
            <a:ext cx="8686800" cy="411480"/>
          </a:xfrm>
          <a:prstGeom prst="rect">
            <a:avLst/>
          </a:prstGeom>
          <a:solidFill>
            <a:srgbClr val="F5F8F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07238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Supervisor Feedback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307238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reviews gave supervisor checkpoints after each module (auth, booking, AI, payments)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511296"/>
            <a:ext cx="8686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112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351129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Provider, Admin portals are independent modules — ideal for parallel sprint execution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3950208"/>
            <a:ext cx="8686800" cy="411480"/>
          </a:xfrm>
          <a:prstGeom prst="rect">
            <a:avLst/>
          </a:prstGeom>
          <a:solidFill>
            <a:srgbClr val="F5F8F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9502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06040" y="395020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2-week sprints surfaced integration issues early (Redis locking, LLM latency, RBAC gaps)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4389120"/>
            <a:ext cx="8686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389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Each Sprint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06040" y="4389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can see incremental working software — not a paper design only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OTP verification, JWT session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Provider onboarding portals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chat (English + Roman Urdu)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682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search, filter, geospatial ranking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797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lifecycle (state machine)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912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 proof upload + admin verify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6027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notes, prescriptions, acknowledgment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0142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&amp; payout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7498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(Future)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17720" y="1115568"/>
            <a:ext cx="4297680" cy="566928"/>
          </a:xfrm>
          <a:prstGeom prst="roundRect">
            <a:avLst>
              <a:gd name="adj" fmla="val 11290"/>
            </a:avLst>
          </a:prstGeom>
          <a:solidFill>
            <a:srgbClr val="FEF9E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4300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interaction (STT/TTS) – planned future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792224"/>
            <a:ext cx="4297680" cy="566928"/>
          </a:xfrm>
          <a:prstGeom prst="roundRect">
            <a:avLst>
              <a:gd name="adj" fmla="val 11290"/>
            </a:avLst>
          </a:prstGeom>
          <a:solidFill>
            <a:srgbClr val="FEF9E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819656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online payment gateway (Stripe)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468880"/>
            <a:ext cx="4297680" cy="566928"/>
          </a:xfrm>
          <a:prstGeom prst="roundRect">
            <a:avLst>
              <a:gd name="adj" fmla="val 11290"/>
            </a:avLst>
          </a:prstGeom>
          <a:solidFill>
            <a:srgbClr val="FEF9E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96312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application (iOS / Android)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145536"/>
            <a:ext cx="4297680" cy="566928"/>
          </a:xfrm>
          <a:prstGeom prst="roundRect">
            <a:avLst>
              <a:gd name="adj" fmla="val 11290"/>
            </a:avLst>
          </a:prstGeom>
          <a:solidFill>
            <a:srgbClr val="FEF9E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7296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beyond English and Roman Urdu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822192"/>
            <a:ext cx="4297680" cy="566928"/>
          </a:xfrm>
          <a:prstGeom prst="roundRect">
            <a:avLst>
              <a:gd name="adj" fmla="val 11290"/>
            </a:avLst>
          </a:prstGeom>
          <a:solidFill>
            <a:srgbClr val="FEF9E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84962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/ video consultation module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617720"/>
            <a:ext cx="868680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177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Deliverables:  FYP Report  |  Working Web Application  |  API Documentation  |  Testing Report  | 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82880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749808"/>
            <a:ext cx="182880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7498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749808"/>
            <a:ext cx="16459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7498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749808"/>
            <a:ext cx="150876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7498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749808"/>
            <a:ext cx="150876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7498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20700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" y="1207008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48840" y="120700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1207008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(voice AI, payment gateway) added mid-development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69080" y="1207008"/>
            <a:ext cx="164592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5656" y="1207008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1207008"/>
            <a:ext cx="1508760" cy="393192"/>
          </a:xfrm>
          <a:prstGeom prst="rect">
            <a:avLst/>
          </a:prstGeom>
          <a:solidFill>
            <a:srgbClr val="FDECE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3016" y="1207008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1207008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1207008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scope after Sprint 2; log change requests separately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1627632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" y="1627632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Delay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48840" y="1627632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85416" y="1627632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LLM API latency and Redis configuration delayed milestones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69080" y="1627632"/>
            <a:ext cx="164592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05656" y="1627632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06440" y="1627632"/>
            <a:ext cx="150876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43016" y="1627632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06640" y="1627632"/>
            <a:ext cx="150876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1627632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sprints; daily standup flags blockers early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2048256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" y="2048256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Failure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148840" y="2048256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85416" y="2048256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and FastAPI backend integration breaks between sprints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69080" y="2048256"/>
            <a:ext cx="164592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05656" y="2048256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06440" y="2048256"/>
            <a:ext cx="150876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43016" y="2048256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06640" y="2048256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3216" y="2048256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with shared API contracts from Sprint 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" y="2468880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" y="2468880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Requirements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48840" y="2468880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85416" y="2468880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 rules and bilingual behavior were not fully specified initially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069080" y="2468880"/>
            <a:ext cx="1645920" cy="393192"/>
          </a:xfrm>
          <a:prstGeom prst="rect">
            <a:avLst/>
          </a:prstGeom>
          <a:solidFill>
            <a:srgbClr val="D6E8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05656" y="2468880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Process-Based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06440" y="2468880"/>
            <a:ext cx="1508760" cy="393192"/>
          </a:xfrm>
          <a:prstGeom prst="rect">
            <a:avLst/>
          </a:prstGeom>
          <a:solidFill>
            <a:srgbClr val="FDECE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43016" y="2468880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06640" y="2468880"/>
            <a:ext cx="150876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43216" y="2468880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documents (20 UCs) approved by supervisor before coding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8600" y="2889504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" y="2889504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Testing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148840" y="2889504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85416" y="2889504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 flow and concurrent booking hard to test without Redis mock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069080" y="2889504"/>
            <a:ext cx="1645920" cy="393192"/>
          </a:xfrm>
          <a:prstGeom prst="rect">
            <a:avLst/>
          </a:prstGeom>
          <a:solidFill>
            <a:srgbClr val="D6E8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05656" y="2889504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Process-Based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806440" y="2889504"/>
            <a:ext cx="150876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43016" y="2889504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406640" y="2889504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43216" y="2889504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test sprint; BVA on OTP TTL and slot lock TTL boundaries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28600" y="3310128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5176" y="3310128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Lag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148840" y="3310128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85416" y="3310128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updates delayed because coding took priority in final sprints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069080" y="3310128"/>
            <a:ext cx="1645920" cy="393192"/>
          </a:xfrm>
          <a:prstGeom prst="rect">
            <a:avLst/>
          </a:prstGeom>
          <a:solidFill>
            <a:srgbClr val="D6E8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05656" y="3310128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Process-Based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806440" y="3310128"/>
            <a:ext cx="150876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43016" y="3310128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406640" y="3310128"/>
            <a:ext cx="150876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43216" y="3310128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1 member per sprint to sync report with latest implementation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28600" y="373075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65176" y="3730752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Unavailability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148840" y="373075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85416" y="3730752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unavailable due to exams, illness, or personal commitments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069080" y="3730752"/>
            <a:ext cx="1645920" cy="393192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05656" y="3730752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806440" y="3730752"/>
            <a:ext cx="1508760" cy="393192"/>
          </a:xfrm>
          <a:prstGeom prst="rect">
            <a:avLst/>
          </a:prstGeom>
          <a:solidFill>
            <a:srgbClr val="FEF9E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43016" y="3730752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406640" y="3730752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43216" y="3730752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briefed on all modules; tasks distributed across 2 members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28600" y="4151376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5176" y="4151376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Cost / Limits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148840" y="4151376"/>
            <a:ext cx="18288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85416" y="4151376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LLM API rate limits exceeded during development or demo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069080" y="4151376"/>
            <a:ext cx="1645920" cy="393192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05656" y="4151376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806440" y="4151376"/>
            <a:ext cx="1508760" cy="393192"/>
          </a:xfrm>
          <a:prstGeom prst="rect">
            <a:avLst/>
          </a:prstGeom>
          <a:solidFill>
            <a:srgbClr val="FDECE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43016" y="4151376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406640" y="4151376"/>
            <a:ext cx="150876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43216" y="4151376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common queries; use mocked responses in non-demo testing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28600" y="4572000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65176" y="4572000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Internet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148840" y="4572000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185416" y="4572000"/>
            <a:ext cx="17556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environment fails due to poor internet or laptop issue on presentation day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069080" y="4572000"/>
            <a:ext cx="1645920" cy="393192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05656" y="4572000"/>
            <a:ext cx="15727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5806440" y="4572000"/>
            <a:ext cx="1508760" cy="393192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43016" y="4572000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7406640" y="4572000"/>
            <a:ext cx="15087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443216" y="4572000"/>
            <a:ext cx="143560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demo on 2 devices; use offline static mode as fallback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Estimation &amp; Project Schedule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 (6 Sprints  ×  2 Weeks = 12 Weeks)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" y="1161288"/>
            <a:ext cx="11887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" y="116128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1161288"/>
            <a:ext cx="9144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16128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161288"/>
            <a:ext cx="50292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1161288"/>
            <a:ext cx="4956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161288"/>
            <a:ext cx="169164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1161288"/>
            <a:ext cx="1618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Members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572768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" y="1572768"/>
            <a:ext cx="11155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63040" y="1572768"/>
            <a:ext cx="914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1572768"/>
            <a:ext cx="8412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1572768"/>
            <a:ext cx="5029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9736" y="1572768"/>
            <a:ext cx="4956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OTP, JWT, RBAC setup, DB schema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1572768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4656" y="1572768"/>
            <a:ext cx="16184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1993392"/>
            <a:ext cx="118872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" y="1993392"/>
            <a:ext cx="11155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63040" y="1993392"/>
            <a:ext cx="9144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1993392"/>
            <a:ext cx="8412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23160" y="1993392"/>
            <a:ext cx="50292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9736" y="1993392"/>
            <a:ext cx="4956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Provider onboarding, health profile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1993392"/>
            <a:ext cx="169164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34656" y="1993392"/>
            <a:ext cx="16184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ZUA, AA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41401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" y="2414016"/>
            <a:ext cx="11155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63040" y="2414016"/>
            <a:ext cx="914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9616" y="2414016"/>
            <a:ext cx="8412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23160" y="2414016"/>
            <a:ext cx="5029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59736" y="2414016"/>
            <a:ext cx="4956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(RAG, guardrails, bilingual), provider search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0" y="2414016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34656" y="2414016"/>
            <a:ext cx="16184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YS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" y="2834640"/>
            <a:ext cx="118872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" y="2834640"/>
            <a:ext cx="11155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463040" y="2834640"/>
            <a:ext cx="9144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99616" y="2834640"/>
            <a:ext cx="8412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23160" y="2834640"/>
            <a:ext cx="50292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9736" y="2834640"/>
            <a:ext cx="4956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lifecycle, Redis slot locking, payment proof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98080" y="2834640"/>
            <a:ext cx="169164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34656" y="2834640"/>
            <a:ext cx="16184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HZ, ZUA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325526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" y="3255264"/>
            <a:ext cx="11155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463040" y="3255264"/>
            <a:ext cx="9144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99616" y="3255264"/>
            <a:ext cx="8412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423160" y="3255264"/>
            <a:ext cx="50292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9736" y="3255264"/>
            <a:ext cx="4956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notes, prescriptions, admin analytics, payouts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98080" y="3255264"/>
            <a:ext cx="16916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34656" y="3255264"/>
            <a:ext cx="16184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AA, US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3675888"/>
            <a:ext cx="118872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5176" y="3675888"/>
            <a:ext cx="11155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463040" y="3675888"/>
            <a:ext cx="9144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99616" y="3675888"/>
            <a:ext cx="8412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23160" y="3675888"/>
            <a:ext cx="502920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59736" y="3675888"/>
            <a:ext cx="495604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testing, BVA, integration fixes, demo preparation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498080" y="3675888"/>
            <a:ext cx="1691640" cy="393192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34656" y="3675888"/>
            <a:ext cx="161848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432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Summary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74320" y="457200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12 Weeks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423160" y="457200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6888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5 Members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0" y="457200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1772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Person-Hours: ~600 hrs (5 × 120 hrs)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720840" y="457200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6656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Sprints: 6 Sprints × 2 Weeks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is fully briefed on: Project Solution, Risk Management, and Project Proposal.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8686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61872"/>
            <a:ext cx="493776" cy="49377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216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Ul Abedeen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Backend Lead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planning, API architecture (FastAPI), RBAC, JWT, DB schema, team coordination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929384"/>
            <a:ext cx="8686800" cy="685800"/>
          </a:xfrm>
          <a:prstGeom prst="roundRect">
            <a:avLst>
              <a:gd name="adj" fmla="val 9333"/>
            </a:avLst>
          </a:prstGeom>
          <a:solidFill>
            <a:srgbClr val="F5F8FA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20824"/>
            <a:ext cx="493776" cy="49377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08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975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Abdullah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313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03911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portals (Patient, Provider, Admin), UI/UX, component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688336"/>
            <a:ext cx="8686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79776"/>
            <a:ext cx="493776" cy="49377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734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Suleman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072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Integration Engineer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279806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integration, RAG pipeline, bilingual detection, pgvector search, AI guardrails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447288"/>
            <a:ext cx="8686800" cy="685800"/>
          </a:xfrm>
          <a:prstGeom prst="roundRect">
            <a:avLst>
              <a:gd name="adj" fmla="val 9333"/>
            </a:avLst>
          </a:prstGeom>
          <a:solidFill>
            <a:srgbClr val="F5F8FA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538728"/>
            <a:ext cx="493776" cy="49377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38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493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Shezaad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831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 / QA Lead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355701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state machine, Redis concurrency, payment workflow, test case execution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4206240"/>
            <a:ext cx="8686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97680"/>
            <a:ext cx="493776" cy="49377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97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Hamial Zaheer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Documentation Engineer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46120" y="4315968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schema, ORM migrations, data dictionary, report writing, deployment setup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868680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778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99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941832"/>
            <a:ext cx="27432" cy="91440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03327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| Provider Portal | Admin Console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130552"/>
            <a:ext cx="8686800" cy="1188720"/>
          </a:xfrm>
          <a:prstGeom prst="rect">
            <a:avLst/>
          </a:prstGeom>
          <a:solidFill>
            <a:srgbClr val="D5F5E3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037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SQLAlchemy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267712"/>
            <a:ext cx="27432" cy="91440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35915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| JWT Auth | RBAC | Redis Locks | Celery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456432"/>
            <a:ext cx="8686800" cy="1188720"/>
          </a:xfrm>
          <a:prstGeom prst="rect">
            <a:avLst/>
          </a:prstGeom>
          <a:solidFill>
            <a:srgbClr val="FEF9E7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29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0507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+ LLM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3593592"/>
            <a:ext cx="27432" cy="91440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368503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| Clinical Records | AI RAG | Embeddings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4617720"/>
            <a:ext cx="8686800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177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(RAG)  |  Verified Provider Search  |  Appointment State Machine  |  Manual Payment Proof  |  Clinical Notes &amp; Rx  |  RBAC Security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68096"/>
            <a:ext cx="1572768" cy="804672"/>
          </a:xfrm>
          <a:prstGeom prst="roundRect">
            <a:avLst>
              <a:gd name="adj" fmla="val 7955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68096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65376" y="1170432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84248" y="768096"/>
            <a:ext cx="1572768" cy="804672"/>
          </a:xfrm>
          <a:prstGeom prst="roundRect">
            <a:avLst>
              <a:gd name="adj" fmla="val 7955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768096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5304" y="1170432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4176" y="768096"/>
            <a:ext cx="1572768" cy="804672"/>
          </a:xfrm>
          <a:prstGeom prst="roundRect">
            <a:avLst>
              <a:gd name="adj" fmla="val 7955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768096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(Boundary)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85232" y="1170432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768096"/>
            <a:ext cx="1572768" cy="804672"/>
          </a:xfrm>
          <a:prstGeom prst="roundRect">
            <a:avLst>
              <a:gd name="adj" fmla="val 7955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4104" y="768096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1170432"/>
            <a:ext cx="118872" cy="0"/>
          </a:xfrm>
          <a:prstGeom prst="line">
            <a:avLst/>
          </a:prstGeom>
          <a:noFill/>
          <a:ln w="25400">
            <a:solidFill>
              <a:srgbClr val="1A527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4032" y="768096"/>
            <a:ext cx="1572768" cy="804672"/>
          </a:xfrm>
          <a:prstGeom prst="roundRect">
            <a:avLst>
              <a:gd name="adj" fmla="val 7955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768096"/>
            <a:ext cx="1572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16916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Summary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28600" y="2103120"/>
            <a:ext cx="210312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" y="210312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103120"/>
            <a:ext cx="68580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14016" y="210312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2103120"/>
            <a:ext cx="100584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5536" y="210312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60520" y="2103120"/>
            <a:ext cx="411480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7096" y="210312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Covered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2103120"/>
            <a:ext cx="82296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57616" y="210312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2496312"/>
            <a:ext cx="2103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" y="2496312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77440" y="249631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4016" y="2496312"/>
            <a:ext cx="612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cases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08960" y="2496312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45536" y="2496312"/>
            <a:ext cx="932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TC-001–006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60520" y="2496312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7096" y="2496312"/>
            <a:ext cx="4041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OTP TTL, session revocation, role enforcement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21040" y="2496312"/>
            <a:ext cx="822960" cy="411480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7616" y="2496312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2935224"/>
            <a:ext cx="210312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" y="2935224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&amp; RAG Guardrails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77440" y="2935224"/>
            <a:ext cx="68580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14016" y="2935224"/>
            <a:ext cx="612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08960" y="2935224"/>
            <a:ext cx="100584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5536" y="2935224"/>
            <a:ext cx="932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TC-007–010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60520" y="2935224"/>
            <a:ext cx="411480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97096" y="2935224"/>
            <a:ext cx="4041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override, self-harm block, context isolation, Roman Urdu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321040" y="2935224"/>
            <a:ext cx="822960" cy="411480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57616" y="2935224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28600" y="3374136"/>
            <a:ext cx="2103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" y="3374136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&amp; Concurrency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377440" y="3374136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14016" y="3374136"/>
            <a:ext cx="612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08960" y="3374136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45536" y="3374136"/>
            <a:ext cx="932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TC-011–014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160520" y="3374136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97096" y="3374136"/>
            <a:ext cx="4041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SETNX locking, race condition, TTL sweep, file validation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21040" y="3374136"/>
            <a:ext cx="822960" cy="411480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57616" y="3374136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28600" y="3813048"/>
            <a:ext cx="210312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5176" y="3813048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Clinical Workflow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77440" y="3813048"/>
            <a:ext cx="68580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14016" y="3813048"/>
            <a:ext cx="612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08960" y="3813048"/>
            <a:ext cx="100584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45536" y="3813048"/>
            <a:ext cx="932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TC-015–018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160520" y="3813048"/>
            <a:ext cx="411480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97096" y="3813048"/>
            <a:ext cx="4041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gate, search radius, prescription timing, Rx ack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321040" y="3813048"/>
            <a:ext cx="822960" cy="411480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57616" y="3813048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28600" y="4251960"/>
            <a:ext cx="2103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5176" y="4251960"/>
            <a:ext cx="2029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Settlement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377440" y="4251960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14016" y="4251960"/>
            <a:ext cx="612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108960" y="4251960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4251960"/>
            <a:ext cx="9326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TC-019–022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160520" y="4251960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97096" y="4251960"/>
            <a:ext cx="4041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approval/rejection, overdraft block, ledger immutability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321040" y="4251960"/>
            <a:ext cx="822960" cy="411480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57616" y="4251960"/>
            <a:ext cx="749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Matrix: 100% of 19 functional requirements traced to use cases and test cases.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– Solution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 (Live walkthrough after presentation):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35024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1225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Patient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581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verification, health profile onboarding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057400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21992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112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symptom in English or Roman Urdu — safe guidance returned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44368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08960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2999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Provider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6968" y="3355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specialty, see distance-based ranking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831336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6E8F7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95928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" y="4242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slot — Redis lock fires, payment instructions shown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170432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335024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67528" y="1225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Payment Proof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67528" y="1581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EasyPaisa/bank transfer uploaded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057400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221992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67528" y="2112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67528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confirms proof — appointment status → CONFIRMED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944368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67528" y="2999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Consultation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67528" y="3355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writes notes &amp; issues digital prescription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831336"/>
            <a:ext cx="4251960" cy="786384"/>
          </a:xfrm>
          <a:prstGeom prst="roundRect">
            <a:avLst>
              <a:gd name="adj" fmla="val 8140"/>
            </a:avLst>
          </a:prstGeom>
          <a:solidFill>
            <a:srgbClr val="D5F5E3"/>
          </a:solidFill>
          <a:ln w="9525">
            <a:solidFill>
              <a:srgbClr val="AED6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3995928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67528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Acknowledges Rx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67528" y="4242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marked ACKNOWLEDGED — audit trail complete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 |  University of Management and Technology, Lahore  |  Fall 2022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371600" cy="13716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" y="221284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Ul Abedeen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777240"/>
            <a:ext cx="1371600" cy="13716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56232" y="221284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Abdullah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777240"/>
            <a:ext cx="1371600" cy="13716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47872" y="221284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Suleman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777240"/>
            <a:ext cx="1371600" cy="13716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221284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Shezaad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6600" y="777240"/>
            <a:ext cx="1371600" cy="13716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31152" y="221284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Hamial Zaheer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31638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SmartCare-AI addresses real healthcare gaps in Pakistan through a unified, AI-assisted platform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(Scrum) process model enabled iterative delivery of 6 independent modules over 12 weeks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856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identified risks (project, process, resource) have defined mitigation strategies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096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 cases cover 100% of in-scope requirements with full traceability matrix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074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is fully briefed on the solution, risks, and project proposal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183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follows this presentation — live end-to-end walkthrough of all 8 steps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956048"/>
            <a:ext cx="8686800" cy="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SmartCare-AI – SPM Presentation</dc:title>
  <dc:subject>PptxGenJS Presentation</dc:subject>
  <dc:creator>PptxGenJS</dc:creator>
  <cp:lastModifiedBy>PptxGenJS</cp:lastModifiedBy>
  <cp:revision>1</cp:revision>
  <dcterms:created xsi:type="dcterms:W3CDTF">2026-06-21T14:13:31Z</dcterms:created>
  <dcterms:modified xsi:type="dcterms:W3CDTF">2026-06-21T14:13:31Z</dcterms:modified>
</cp:coreProperties>
</file>